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272" r:id="rId5"/>
    <p:sldId id="282" r:id="rId6"/>
    <p:sldId id="283" r:id="rId7"/>
    <p:sldId id="268" r:id="rId8"/>
    <p:sldId id="280" r:id="rId9"/>
    <p:sldId id="28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1D8B7"/>
    <a:srgbClr val="A09D79"/>
    <a:srgbClr val="AD5C4D"/>
    <a:srgbClr val="543E35"/>
    <a:srgbClr val="637700"/>
    <a:srgbClr val="FFF4ED"/>
    <a:srgbClr val="5E6A76"/>
    <a:srgbClr val="000000"/>
    <a:srgbClr val="F8F3F0"/>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30"/>
  </p:normalViewPr>
  <p:slideViewPr>
    <p:cSldViewPr snapToGrid="0">
      <p:cViewPr>
        <p:scale>
          <a:sx n="95" d="100"/>
          <a:sy n="95" d="100"/>
        </p:scale>
        <p:origin x="163" y="53"/>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58" d="100"/>
          <a:sy n="58" d="100"/>
        </p:scale>
        <p:origin x="324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8/31/2023</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8/31/2023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4</a:t>
            </a:fld>
            <a:endParaRPr lang="en-US" dirty="0"/>
          </a:p>
        </p:txBody>
      </p:sp>
    </p:spTree>
    <p:extLst>
      <p:ext uri="{BB962C8B-B14F-4D97-AF65-F5344CB8AC3E}">
        <p14:creationId xmlns:p14="http://schemas.microsoft.com/office/powerpoint/2010/main" val="3150707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72795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82937281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392048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211128599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4133274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83071543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170490853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p>
          <a:p>
            <a:pPr lvl="1"/>
            <a:r>
              <a:rPr lang="en-US"/>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30217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62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233691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57158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9522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7" r:id="rId3"/>
    <p:sldLayoutId id="2147483651" r:id="rId4"/>
    <p:sldLayoutId id="2147483659" r:id="rId5"/>
    <p:sldLayoutId id="2147483660" r:id="rId6"/>
    <p:sldLayoutId id="2147483664" r:id="rId7"/>
    <p:sldLayoutId id="2147483661" r:id="rId8"/>
    <p:sldLayoutId id="2147483662" r:id="rId9"/>
    <p:sldLayoutId id="2147483663" r:id="rId10"/>
    <p:sldLayoutId id="2147483654" r:id="rId11"/>
    <p:sldLayoutId id="2147483653" r:id="rId12"/>
    <p:sldLayoutId id="2147483667" r:id="rId13"/>
    <p:sldLayoutId id="2147483665" r:id="rId14"/>
    <p:sldLayoutId id="2147483666" r:id="rId15"/>
    <p:sldLayoutId id="2147483652" r:id="rId16"/>
    <p:sldLayoutId id="2147483655" r:id="rId17"/>
    <p:sldLayoutId id="2147483656" r:id="rId18"/>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hyperlink" Target="https://static.ed.edmunds-media.com/unversioned/img/industry-center/insights/2019-used-vehicle-outlook-report-final.pdf"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a:xfrm>
            <a:off x="1684421" y="1686134"/>
            <a:ext cx="9144000" cy="2575342"/>
          </a:xfrm>
        </p:spPr>
        <p:txBody>
          <a:bodyPr/>
          <a:lstStyle/>
          <a:p>
            <a:r>
              <a:rPr lang="en-US" dirty="0">
                <a:latin typeface="Times New Roman" panose="02020603050405020304" pitchFamily="18" charset="0"/>
                <a:cs typeface="Times New Roman" panose="02020603050405020304" pitchFamily="18" charset="0"/>
              </a:rPr>
              <a:t>CAR RESALE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VALUE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PREDICTION</a:t>
            </a:r>
          </a:p>
        </p:txBody>
      </p:sp>
      <p:sp>
        <p:nvSpPr>
          <p:cNvPr id="7" name="Subtitle 6">
            <a:extLst>
              <a:ext uri="{FF2B5EF4-FFF2-40B4-BE49-F238E27FC236}">
                <a16:creationId xmlns:a16="http://schemas.microsoft.com/office/drawing/2014/main" id="{619B7BEC-2C3F-70C2-1DA9-D6302FF53C4F}"/>
              </a:ext>
            </a:extLst>
          </p:cNvPr>
          <p:cNvSpPr>
            <a:spLocks noGrp="1"/>
          </p:cNvSpPr>
          <p:nvPr>
            <p:ph type="subTitle" idx="1"/>
          </p:nvPr>
        </p:nvSpPr>
        <p:spPr>
          <a:xfrm>
            <a:off x="1684421" y="4598068"/>
            <a:ext cx="9144000" cy="1327484"/>
          </a:xfrm>
        </p:spPr>
        <p:txBody>
          <a:bodyPr>
            <a:normAutofit/>
          </a:bodyPr>
          <a:lstStyle/>
          <a:p>
            <a:r>
              <a:rPr lang="en-IN" sz="4400" dirty="0">
                <a:latin typeface="Times New Roman" panose="02020603050405020304" pitchFamily="18" charset="0"/>
                <a:cs typeface="Times New Roman" panose="02020603050405020304" pitchFamily="18" charset="0"/>
              </a:rPr>
              <a:t>Domain-Data</a:t>
            </a:r>
            <a:r>
              <a:rPr lang="en-IN" sz="4400" dirty="0"/>
              <a:t> </a:t>
            </a:r>
            <a:r>
              <a:rPr lang="en-IN" sz="4400" dirty="0">
                <a:latin typeface="Times New Roman" panose="02020603050405020304" pitchFamily="18" charset="0"/>
                <a:cs typeface="Times New Roman" panose="02020603050405020304" pitchFamily="18" charset="0"/>
              </a:rPr>
              <a:t>Science</a:t>
            </a:r>
          </a:p>
        </p:txBody>
      </p:sp>
      <p:sp>
        <p:nvSpPr>
          <p:cNvPr id="5" name="TextBox 4">
            <a:extLst>
              <a:ext uri="{FF2B5EF4-FFF2-40B4-BE49-F238E27FC236}">
                <a16:creationId xmlns:a16="http://schemas.microsoft.com/office/drawing/2014/main" id="{80CA5158-83D3-D3B5-7062-242031F6035D}"/>
              </a:ext>
            </a:extLst>
          </p:cNvPr>
          <p:cNvSpPr txBox="1"/>
          <p:nvPr/>
        </p:nvSpPr>
        <p:spPr>
          <a:xfrm>
            <a:off x="4379494" y="580102"/>
            <a:ext cx="3433011" cy="769441"/>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20IT928-C13</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47179F7-8740-03DE-F133-BBA41988A64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Team Members:</a:t>
            </a:r>
          </a:p>
        </p:txBody>
      </p:sp>
      <p:sp>
        <p:nvSpPr>
          <p:cNvPr id="3" name="Content Placeholder 2">
            <a:extLst>
              <a:ext uri="{FF2B5EF4-FFF2-40B4-BE49-F238E27FC236}">
                <a16:creationId xmlns:a16="http://schemas.microsoft.com/office/drawing/2014/main" id="{D92BF9C1-9009-C934-C11C-54570A5234B7}"/>
              </a:ext>
            </a:extLst>
          </p:cNvPr>
          <p:cNvSpPr>
            <a:spLocks noGrp="1"/>
          </p:cNvSpPr>
          <p:nvPr>
            <p:ph sz="half" idx="2"/>
          </p:nvPr>
        </p:nvSpPr>
        <p:spPr>
          <a:xfrm>
            <a:off x="737937" y="1499937"/>
            <a:ext cx="7002379" cy="3713747"/>
          </a:xfrm>
        </p:spPr>
        <p:txBody>
          <a:bodyPr>
            <a:normAutofit/>
          </a:bodyPr>
          <a:lstStyle/>
          <a:p>
            <a:pPr marL="0" indent="0">
              <a:buNone/>
            </a:pPr>
            <a:r>
              <a:rPr lang="en-US" sz="2400" dirty="0">
                <a:solidFill>
                  <a:schemeClr val="accent5">
                    <a:lumMod val="50000"/>
                  </a:schemeClr>
                </a:solidFill>
                <a:latin typeface="Times New Roman" panose="02020603050405020304" pitchFamily="18" charset="0"/>
                <a:cs typeface="Times New Roman" panose="02020603050405020304" pitchFamily="18" charset="0"/>
              </a:rPr>
              <a:t>111720102136-S.V.Koushik</a:t>
            </a:r>
          </a:p>
          <a:p>
            <a:pPr marL="0" indent="0">
              <a:buNone/>
            </a:pPr>
            <a:r>
              <a:rPr lang="en-US" sz="2400" dirty="0">
                <a:solidFill>
                  <a:schemeClr val="accent5">
                    <a:lumMod val="50000"/>
                  </a:schemeClr>
                </a:solidFill>
                <a:latin typeface="Times New Roman" panose="02020603050405020304" pitchFamily="18" charset="0"/>
                <a:cs typeface="Times New Roman" panose="02020603050405020304" pitchFamily="18" charset="0"/>
              </a:rPr>
              <a:t>111720102168-V.Dinesh</a:t>
            </a:r>
          </a:p>
          <a:p>
            <a:pPr marL="0" indent="0">
              <a:buNone/>
            </a:pPr>
            <a:r>
              <a:rPr lang="en-US" sz="2400" dirty="0">
                <a:solidFill>
                  <a:schemeClr val="accent5">
                    <a:lumMod val="50000"/>
                  </a:schemeClr>
                </a:solidFill>
                <a:latin typeface="Times New Roman" panose="02020603050405020304" pitchFamily="18" charset="0"/>
                <a:cs typeface="Times New Roman" panose="02020603050405020304" pitchFamily="18" charset="0"/>
              </a:rPr>
              <a:t>111720102161-T.Dharun</a:t>
            </a:r>
          </a:p>
          <a:p>
            <a:pPr marL="0" indent="0">
              <a:buNone/>
            </a:pPr>
            <a:r>
              <a:rPr lang="en-US" sz="2400" dirty="0">
                <a:solidFill>
                  <a:schemeClr val="accent5">
                    <a:lumMod val="50000"/>
                  </a:schemeClr>
                </a:solidFill>
                <a:latin typeface="Times New Roman" panose="02020603050405020304" pitchFamily="18" charset="0"/>
                <a:cs typeface="Times New Roman" panose="02020603050405020304" pitchFamily="18" charset="0"/>
              </a:rPr>
              <a:t>111720102135-S.Harsha</a:t>
            </a:r>
          </a:p>
          <a:p>
            <a:pPr marL="0" indent="0">
              <a:buNone/>
            </a:pPr>
            <a:r>
              <a:rPr lang="en-US" sz="2400" dirty="0">
                <a:solidFill>
                  <a:schemeClr val="accent5">
                    <a:lumMod val="50000"/>
                  </a:schemeClr>
                </a:solidFill>
                <a:latin typeface="Times New Roman" panose="02020603050405020304" pitchFamily="18" charset="0"/>
                <a:cs typeface="Times New Roman" panose="02020603050405020304" pitchFamily="18" charset="0"/>
              </a:rPr>
              <a:t>111720102313-K.Vamsi Reddy</a:t>
            </a:r>
          </a:p>
        </p:txBody>
      </p:sp>
    </p:spTree>
    <p:extLst>
      <p:ext uri="{BB962C8B-B14F-4D97-AF65-F5344CB8AC3E}">
        <p14:creationId xmlns:p14="http://schemas.microsoft.com/office/powerpoint/2010/main" val="1164941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F5768EFB-B317-47EA-C969-D365EB136882}"/>
              </a:ext>
            </a:extLst>
          </p:cNvPr>
          <p:cNvSpPr>
            <a:spLocks noGrp="1"/>
          </p:cNvSpPr>
          <p:nvPr>
            <p:ph type="title"/>
          </p:nvPr>
        </p:nvSpPr>
        <p:spPr>
          <a:xfrm>
            <a:off x="697613" y="1448160"/>
            <a:ext cx="10515600" cy="466344"/>
          </a:xfrm>
        </p:spPr>
        <p:txBody>
          <a:bodyPr/>
          <a:lstStyle/>
          <a:p>
            <a:r>
              <a:rPr lang="en-US" sz="3600" dirty="0">
                <a:latin typeface="Times New Roman" panose="02020603050405020304" pitchFamily="18" charset="0"/>
                <a:cs typeface="Times New Roman" panose="02020603050405020304" pitchFamily="18" charset="0"/>
              </a:rPr>
              <a:t>Introduction</a:t>
            </a:r>
          </a:p>
        </p:txBody>
      </p:sp>
      <p:sp>
        <p:nvSpPr>
          <p:cNvPr id="5" name="Rectangle 1">
            <a:extLst>
              <a:ext uri="{FF2B5EF4-FFF2-40B4-BE49-F238E27FC236}">
                <a16:creationId xmlns:a16="http://schemas.microsoft.com/office/drawing/2014/main" id="{7AE76FF8-7F39-E278-03AA-ECBB3637B889}"/>
              </a:ext>
            </a:extLst>
          </p:cNvPr>
          <p:cNvSpPr>
            <a:spLocks noGrp="1" noChangeArrowheads="1"/>
          </p:cNvSpPr>
          <p:nvPr>
            <p:ph type="body" sz="quarter" idx="13"/>
          </p:nvPr>
        </p:nvSpPr>
        <p:spPr bwMode="auto">
          <a:xfrm>
            <a:off x="2321877" y="2459504"/>
            <a:ext cx="767658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500" b="0" i="1"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Approximately </a:t>
            </a:r>
            <a:r>
              <a:rPr kumimoji="0" lang="en-US" altLang="en-US" sz="1500" b="0" i="1" u="sng"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hlinkClick r:id="rId2"/>
              </a:rPr>
              <a:t>40 million used vehicles are sold</a:t>
            </a:r>
            <a:r>
              <a:rPr kumimoji="0" lang="en-US" altLang="en-US" sz="1500" b="0" i="1"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each year. Effective pricing strategies can help any company to efficiently sell its products in a competitive market and making profit.</a:t>
            </a: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In the automotive sector, pricing analytics play an essential role for both companies and individuals to assess the market price of a vehicle before putting it on sale or buying it.</a:t>
            </a: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There are two main goals I want to achieve with this Data Science Project. First, to estimate the price of used cars by taking into account a set of features, based on historical data. Second, to get a better understanding on the most relevant features that help determine the price of a used vehicle.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918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7D1C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DC31-1488-8091-935A-1B03A14A5CD8}"/>
              </a:ext>
            </a:extLst>
          </p:cNvPr>
          <p:cNvSpPr>
            <a:spLocks noGrp="1"/>
          </p:cNvSpPr>
          <p:nvPr>
            <p:ph type="title"/>
          </p:nvPr>
        </p:nvSpPr>
        <p:spPr>
          <a:xfrm>
            <a:off x="2618873" y="856488"/>
            <a:ext cx="6954253" cy="676656"/>
          </a:xfrm>
        </p:spPr>
        <p:txBody>
          <a:bodyPr/>
          <a:lstStyle/>
          <a:p>
            <a:r>
              <a:rPr lang="en-US" dirty="0">
                <a:latin typeface="Times New Roman" panose="02020603050405020304" pitchFamily="18" charset="0"/>
                <a:cs typeface="Times New Roman" panose="02020603050405020304" pitchFamily="18" charset="0"/>
              </a:rPr>
              <a:t>PROBLEM</a:t>
            </a:r>
            <a:r>
              <a:rPr lang="en-US" dirty="0"/>
              <a:t> </a:t>
            </a:r>
            <a:r>
              <a:rPr lang="en-US" dirty="0">
                <a:latin typeface="Times New Roman" panose="02020603050405020304" pitchFamily="18" charset="0"/>
                <a:cs typeface="Times New Roman" panose="02020603050405020304" pitchFamily="18" charset="0"/>
              </a:rPr>
              <a:t>STATEMENT</a:t>
            </a:r>
          </a:p>
        </p:txBody>
      </p:sp>
      <p:sp>
        <p:nvSpPr>
          <p:cNvPr id="7" name="Content Placeholder 6">
            <a:extLst>
              <a:ext uri="{FF2B5EF4-FFF2-40B4-BE49-F238E27FC236}">
                <a16:creationId xmlns:a16="http://schemas.microsoft.com/office/drawing/2014/main" id="{BD1C6792-93C5-DED1-0872-50E165128229}"/>
              </a:ext>
            </a:extLst>
          </p:cNvPr>
          <p:cNvSpPr>
            <a:spLocks noGrp="1"/>
          </p:cNvSpPr>
          <p:nvPr>
            <p:ph sz="quarter" idx="4"/>
          </p:nvPr>
        </p:nvSpPr>
        <p:spPr>
          <a:xfrm>
            <a:off x="1707040" y="2053389"/>
            <a:ext cx="9089296" cy="3112008"/>
          </a:xfrm>
        </p:spPr>
        <p:txBody>
          <a:bodyPr>
            <a:normAutofit/>
          </a:bodyPr>
          <a:lstStyle/>
          <a:p>
            <a:pPr marL="0" indent="0" algn="ctr">
              <a:buNone/>
            </a:pPr>
            <a:r>
              <a:rPr lang="en-US" sz="2000" b="0" i="0" dirty="0">
                <a:solidFill>
                  <a:schemeClr val="accent5">
                    <a:lumMod val="50000"/>
                  </a:schemeClr>
                </a:solidFill>
                <a:effectLst/>
                <a:latin typeface="Times New Roman" panose="02020603050405020304" pitchFamily="18" charset="0"/>
                <a:cs typeface="Times New Roman" panose="02020603050405020304" pitchFamily="18" charset="0"/>
              </a:rPr>
              <a:t> Developing a data-driven model to predict the resale value of cars based on factors such as vehicle features, mileage, market trends, condition, and brand perception. This project aims to provide accurate resale value estimates, enabling informed decision-making for both sellers and buyers in the used car market. The challenge lies in harnessing historical data and applying advanced data science techniques to create a reliable prediction model that considers the multifaceted influences on car resale values. Successful execution will enhance transparency and fairness in the resale market.</a:t>
            </a:r>
            <a:endParaRPr lang="en-US" sz="2000" dirty="0">
              <a:solidFill>
                <a:schemeClr val="accent5">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600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7AB109-D696-F27C-BD95-5BEBCF3AC000}"/>
              </a:ext>
            </a:extLst>
          </p:cNvPr>
          <p:cNvSpPr>
            <a:spLocks noGrp="1"/>
          </p:cNvSpPr>
          <p:nvPr>
            <p:ph type="ctrTitle"/>
          </p:nvPr>
        </p:nvSpPr>
        <p:spPr>
          <a:xfrm>
            <a:off x="1524000" y="465221"/>
            <a:ext cx="9144000" cy="978569"/>
          </a:xfrm>
        </p:spPr>
        <p:txBody>
          <a:bodyPr/>
          <a:lstStyle/>
          <a:p>
            <a:r>
              <a:rPr lang="en-US" sz="4800" dirty="0">
                <a:latin typeface="Times New Roman" panose="02020603050405020304" pitchFamily="18" charset="0"/>
                <a:cs typeface="Times New Roman" panose="02020603050405020304" pitchFamily="18" charset="0"/>
              </a:rPr>
              <a:t>Abstract</a:t>
            </a:r>
          </a:p>
        </p:txBody>
      </p:sp>
      <p:sp>
        <p:nvSpPr>
          <p:cNvPr id="2" name="Text Placeholder 1">
            <a:extLst>
              <a:ext uri="{FF2B5EF4-FFF2-40B4-BE49-F238E27FC236}">
                <a16:creationId xmlns:a16="http://schemas.microsoft.com/office/drawing/2014/main" id="{60ADE49E-7CC1-6704-5852-FAE992A0EEC4}"/>
              </a:ext>
            </a:extLst>
          </p:cNvPr>
          <p:cNvSpPr>
            <a:spLocks noGrp="1"/>
          </p:cNvSpPr>
          <p:nvPr>
            <p:ph type="subTitle" idx="1"/>
          </p:nvPr>
        </p:nvSpPr>
        <p:spPr>
          <a:xfrm>
            <a:off x="1524000" y="1828801"/>
            <a:ext cx="9144000" cy="4162926"/>
          </a:xfrm>
        </p:spPr>
        <p:txBody>
          <a:bodyPr>
            <a:normAutofit/>
          </a:bodyPr>
          <a:lstStyle/>
          <a:p>
            <a:r>
              <a:rPr lang="en-US" sz="2000" b="0" i="0" dirty="0">
                <a:solidFill>
                  <a:schemeClr val="accent5">
                    <a:lumMod val="50000"/>
                  </a:schemeClr>
                </a:solidFill>
                <a:effectLst/>
                <a:latin typeface="Times New Roman" panose="02020603050405020304" pitchFamily="18" charset="0"/>
                <a:cs typeface="Times New Roman" panose="02020603050405020304" pitchFamily="18" charset="0"/>
              </a:rPr>
              <a:t>The "Car Resale Value Prediction using Data Science" project aims to create a robust predictive model for estimating the resale values of cars. By analyzing a diverse range of factors including vehicle specifications, market trends, mileage, and maintenance history, this data-driven approach seeks to provide accurate resale value predictions. Through the utilization of machine learning algorithms and regression techniques, the model aims to capture the intricate interplay of variables affecting resale values. Successful implementation of this project can empower both sellers and buyers in making informed decisions, enhancing transparency and fairness in the used car market. This research contributes to the synergy between data science and automotive industry insights, offering a valuable tool for assessing the worth of used cars.</a:t>
            </a:r>
            <a:endParaRPr lang="en-US" sz="2000"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18B697A5-63AE-CFF2-701C-13C0448CEBA9}"/>
              </a:ext>
            </a:extLst>
          </p:cNvPr>
          <p:cNvSpPr>
            <a:spLocks noGrp="1"/>
          </p:cNvSpPr>
          <p:nvPr>
            <p:ph type="sldNum" sz="quarter" idx="4294967295"/>
          </p:nvPr>
        </p:nvSpPr>
        <p:spPr>
          <a:xfrm>
            <a:off x="11204575" y="6464300"/>
            <a:ext cx="987425" cy="311150"/>
          </a:xfrm>
        </p:spPr>
        <p:txBody>
          <a:bodyPr/>
          <a:lstStyle/>
          <a:p>
            <a:fld id="{58FB4751-880F-D840-AAA9-3A15815CC996}" type="slidenum">
              <a:rPr lang="en-US" smtClean="0"/>
              <a:t>5</a:t>
            </a:fld>
            <a:endParaRPr lang="en-US" dirty="0"/>
          </a:p>
        </p:txBody>
      </p:sp>
    </p:spTree>
    <p:extLst>
      <p:ext uri="{BB962C8B-B14F-4D97-AF65-F5344CB8AC3E}">
        <p14:creationId xmlns:p14="http://schemas.microsoft.com/office/powerpoint/2010/main" val="3418206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577936335"/>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s_Organic_Presentation_Win32_SW_v10.potx" id="{F6C2ABF3-C322-42BE-B48A-63C78EC4C218}" vid="{F577DF72-62B0-42B0-B34E-786789A797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7964E6-3618-4106-9F0D-0B5B9150681B}">
  <ds:schemaRefs>
    <ds:schemaRef ds:uri="http://schemas.microsoft.com/sharepoint/v3/contenttype/forms"/>
  </ds:schemaRefs>
</ds:datastoreItem>
</file>

<file path=customXml/itemProps2.xml><?xml version="1.0" encoding="utf-8"?>
<ds:datastoreItem xmlns:ds="http://schemas.openxmlformats.org/officeDocument/2006/customXml" ds:itemID="{D9A499FA-9FE2-4A54-8493-B62A0ECF1677}">
  <ds:schemaRefs>
    <ds:schemaRef ds:uri="230e9df3-be65-4c73-a93b-d1236ebd677e"/>
    <ds:schemaRef ds:uri="http://schemas.microsoft.com/office/2006/documentManagement/types"/>
    <ds:schemaRef ds:uri="http://purl.org/dc/terms/"/>
    <ds:schemaRef ds:uri="http://purl.org/dc/elements/1.1/"/>
    <ds:schemaRef ds:uri="http://purl.org/dc/dcmitype/"/>
    <ds:schemaRef ds:uri="http://www.w3.org/XML/1998/namespace"/>
    <ds:schemaRef ds:uri="http://schemas.microsoft.com/office/infopath/2007/PartnerControls"/>
    <ds:schemaRef ds:uri="http://schemas.microsoft.com/office/2006/metadata/properties"/>
    <ds:schemaRef ds:uri="http://schemas.openxmlformats.org/package/2006/metadata/core-properties"/>
    <ds:schemaRef ds:uri="16c05727-aa75-4e4a-9b5f-8a80a1165891"/>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713FD1EE-2EF1-42E3-9260-53F7A9198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{FBF4C498-7451-4F87-ADBA-9A8E63D86D19}tf11964407_win32</Template>
  <TotalTime>153</TotalTime>
  <Words>391</Words>
  <Application>Microsoft Office PowerPoint</Application>
  <PresentationFormat>Widescreen</PresentationFormat>
  <Paragraphs>20</Paragraphs>
  <Slides>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Calibri</vt:lpstr>
      <vt:lpstr>Courier New</vt:lpstr>
      <vt:lpstr>Gill Sans Nova</vt:lpstr>
      <vt:lpstr>Gill Sans Nova Light</vt:lpstr>
      <vt:lpstr>Sagona Book</vt:lpstr>
      <vt:lpstr>Times New Roman</vt:lpstr>
      <vt:lpstr>Custom</vt:lpstr>
      <vt:lpstr>CAR RESALE  VALUE PREDICTION</vt:lpstr>
      <vt:lpstr>Team Members:</vt:lpstr>
      <vt:lpstr>Introduction</vt:lpstr>
      <vt:lpstr>PROBLEM STATEMENT</vt:lpstr>
      <vt:lpstr>Abstract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RESALE  VALUE PREDICTION</dc:title>
  <dc:creator>Koushik s</dc:creator>
  <cp:lastModifiedBy>Koushik s</cp:lastModifiedBy>
  <cp:revision>2</cp:revision>
  <cp:lastPrinted>2023-08-31T07:55:52Z</cp:lastPrinted>
  <dcterms:created xsi:type="dcterms:W3CDTF">2023-08-31T06:37:40Z</dcterms:created>
  <dcterms:modified xsi:type="dcterms:W3CDTF">2023-08-31T09:21:48Z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